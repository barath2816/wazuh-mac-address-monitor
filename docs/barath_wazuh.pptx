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italic ns1:id="rIdFont20"/>
      <ns0:bold ns1:id="rIdFont21"/>
      <ns0:regular ns1:id="rIdFont22"/>
    </ns0:embeddedFont>
    <ns0:embeddedFont>
      <ns0:font typeface="Space Grotesk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c7a3a9a-30b2-430a-b740-465638216c3a.fntdata" /><ns0:Relationship Id="rIdFont21" Type="http://schemas.openxmlformats.org/officeDocument/2006/relationships/font" Target="fonts/951b4f7b-55cf-4e43-ad17-da2a0e5ac800.fntdata" /><ns0:Relationship Id="rIdFont22" Type="http://schemas.openxmlformats.org/officeDocument/2006/relationships/font" Target="fonts/a3b476b0-db29-4124-b86f-b8b1f0d6fc9b.fntdata" /><ns0:Relationship Id="rIdFont23" Type="http://schemas.openxmlformats.org/officeDocument/2006/relationships/font" Target="fonts/2da1494b-b396-4b3f-977f-567910b59a5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429125" y="1883122"/>
            <a:ext cx="3333750" cy="285750"/>
          </a:xfrm>
          <a:prstGeom prst="roundRect">
            <a:avLst>
              <a:gd name="adj" fmla="val 50000"/>
            </a:avLst>
          </a:prstGeom>
          <a:solidFill>
            <a:srgbClr val="10273A"/>
          </a:solidFill>
          <a:ln w="9525">
            <a:solidFill>
              <a:srgbClr val="194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9337" y="4631977"/>
            <a:ext cx="2076450" cy="342900"/>
          </a:xfrm>
          <a:prstGeom prst="roundRect">
            <a:avLst>
              <a:gd name="adj" fmla="val 22222"/>
            </a:avLst>
          </a:prstGeom>
          <a:solidFill>
            <a:srgbClr val="151B29"/>
          </a:solidFill>
          <a:ln w="9525">
            <a:solidFill>
              <a:srgbClr val="1F25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81537" y="4631977"/>
            <a:ext cx="2333625" cy="342900"/>
          </a:xfrm>
          <a:prstGeom prst="roundRect">
            <a:avLst>
              <a:gd name="adj" fmla="val 22222"/>
            </a:avLst>
          </a:prstGeom>
          <a:solidFill>
            <a:srgbClr val="151B29"/>
          </a:solidFill>
          <a:ln w="9525">
            <a:solidFill>
              <a:srgbClr val="1F25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00912" y="4631977"/>
            <a:ext cx="2571750" cy="342900"/>
          </a:xfrm>
          <a:prstGeom prst="roundRect">
            <a:avLst>
              <a:gd name="adj" fmla="val 22222"/>
            </a:avLst>
          </a:prstGeom>
          <a:solidFill>
            <a:srgbClr val="151B29"/>
          </a:solidFill>
          <a:ln w="9525">
            <a:solidFill>
              <a:srgbClr val="1F25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1968847"/>
            <a:ext cx="133350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262" y="4746277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2" y="4746277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837" y="4746277"/>
            <a:ext cx="1143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83856" y="1940272"/>
            <a:ext cx="38242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Plus Jakarta Sans"/>
              </a:rPr>
              <a:t>CYBERSECURITY ENGINEERING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594" y="2397472"/>
            <a:ext cx="1048881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Real-Time MAC Spoofing Detection</a:t>
            </a:r>
            <a:r>
              <a:t>
</a:t>
            </a:r>
            <a:r>
              <a:rPr b="1" sz="3900" i="0" u="none">
                <a:solidFill>
                  <a:srgbClr val="F8FAFC"/>
                </a:solidFill>
                <a:latin typeface="Space Grotesk"/>
              </a:rPr>
              <a:t> with </a:t>
            </a:r>
            <a:r>
              <a:rPr b="1" sz="3900" i="0" u="none">
                <a:solidFill>
                  <a:srgbClr val="38BDF8"/>
                </a:solidFill>
                <a:latin typeface="Space Grotesk"/>
              </a:rPr>
              <a:t>Wazuh SIEM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4437" y="3727102"/>
            <a:ext cx="97631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Automated endpoint telemetry capture, custom detection rules, MITRE ATT&amp;CK alignment, and instant incident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181" y="4708177"/>
            <a:ext cx="22907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 Kali Linux &amp; Ubuntu 24.04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2234" y="4708177"/>
            <a:ext cx="261223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Wazuh Agent &amp; Manager 4.14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1843" y="4708177"/>
            <a:ext cx="290988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Active Response &amp; SMTP Alerting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58102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425" y="581025"/>
            <a:ext cx="676584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The Threat of MAC Spoofing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396579"/>
            <a:ext cx="692586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Space Grotesk"/>
              </a:rPr>
              <a:t>Layer 2 Impersonation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910929"/>
            <a:ext cx="53721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MAC address spoofing modifies network interface hardware addresses to evade filtering, clone trusted assets, and conduct unauthorized lateral movement within enterprise local area networks.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160490"/>
            <a:ext cx="5372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Traditional monitoring tools rely on post-breach inspection and lack real-time correlation, leaving SOC teams blind to unauthorized physical identity modification.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025" y="2070645"/>
            <a:ext cx="5324475" cy="3390900"/>
          </a:xfrm>
          <a:prstGeom prst="roundRect">
            <a:avLst>
              <a:gd name="adj" fmla="val 3370"/>
            </a:avLst>
          </a:prstGeom>
          <a:solidFill>
            <a:srgbClr val="101A2E"/>
          </a:solidFill>
          <a:ln w="9525">
            <a:solidFill>
              <a:srgbClr val="1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2070645"/>
            <a:ext cx="5324475" cy="3390900"/>
          </a:xfrm>
          <a:prstGeom prst="roundRect">
            <a:avLst>
              <a:gd name="adj" fmla="val 3370"/>
            </a:avLst>
          </a:prstGeom>
          <a:solidFill>
            <a:srgbClr val="101A2E"/>
          </a:solidFill>
          <a:ln w="9525">
            <a:solidFill>
              <a:srgbClr val="1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442120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442120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System Limitations vs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2413545"/>
            <a:ext cx="5748218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Traditional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0" y="2413545"/>
            <a:ext cx="52387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Proposed Wazuh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870745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Manual Log Inspection: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Security teams inspect syslog entries after unauthorized activity occurs.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432720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No Real-Time Visibility: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Layer 2 MAC frame updates remain undetected across subnets.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994695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Extended MTTD &amp; MTTR: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High alert latency gives attackers prolonged dwell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4556670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Decentralized Audits: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Lack of unified dashboards and missing forensic artifacts.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70745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Sub-Second Detection: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Continuous Python polling generates structured JSON logs on NIC change.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432720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Automated Ingestion: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Wazuh Agent forwards telemetry directly to Wazuh Manager.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94695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MITRE ATT&amp;CK Mapping: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Instant correlation to adversarial techniques and defense evasion.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56670"/>
            <a:ext cx="45053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Plus Jakarta Sans"/>
              </a:rPr>
              <a:t>Proactive Active Response: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Automatically generates forensic summaries and triggers SMTP alerts.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2908845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3470820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032795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594770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08845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70820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32795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594770"/>
            <a:ext cx="57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b="0" sz="750" i="0" u="none">
                <a:solidFill>
                  <a:srgbClr val="38BDF8"/>
                </a:solidFill>
                <a:latin typeface="Plus Jakarta Sans"/>
              </a:rPr>
              <a:t>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025" y="2504033"/>
            <a:ext cx="3524250" cy="2524125"/>
          </a:xfrm>
          <a:prstGeom prst="roundRect">
            <a:avLst>
              <a:gd name="adj" fmla="val 4528"/>
            </a:avLst>
          </a:prstGeom>
          <a:solidFill>
            <a:srgbClr val="101A2E"/>
          </a:solidFill>
          <a:ln w="9525">
            <a:solidFill>
              <a:srgbClr val="1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3875" y="2504033"/>
            <a:ext cx="3524250" cy="2524125"/>
          </a:xfrm>
          <a:prstGeom prst="roundRect">
            <a:avLst>
              <a:gd name="adj" fmla="val 4528"/>
            </a:avLst>
          </a:prstGeom>
          <a:solidFill>
            <a:srgbClr val="101A2E"/>
          </a:solidFill>
          <a:ln w="9525">
            <a:solidFill>
              <a:srgbClr val="1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86725" y="2504033"/>
            <a:ext cx="3524250" cy="2524125"/>
          </a:xfrm>
          <a:prstGeom prst="roundRect">
            <a:avLst>
              <a:gd name="adj" fmla="val 4528"/>
            </a:avLst>
          </a:prstGeom>
          <a:solidFill>
            <a:srgbClr val="101A2E"/>
          </a:solidFill>
          <a:ln w="9525">
            <a:solidFill>
              <a:srgbClr val="122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799308"/>
            <a:ext cx="5143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2799308"/>
            <a:ext cx="51435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799308"/>
            <a:ext cx="51435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2932658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0" y="2932658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2012" y="2932658"/>
            <a:ext cx="3143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Project Core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04158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Continuous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66108"/>
            <a:ext cx="30289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Deploy a lightweight Python daemon capturing hardware MAC, permanent factory MAC, gateway, and DNS metadata in real-time JSON format.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3504158"/>
            <a:ext cx="272534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SIEM Event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150" y="3866108"/>
            <a:ext cx="30289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Develop custom Wazuh XML rules to detect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MAC_INVESTIGATION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triggers, classify severity level 10, and tag MITRE tactics.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504158"/>
            <a:ext cx="258782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Automated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866108"/>
            <a:ext cx="30289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Execute Wazuh Active Response scripts, dispatch instant Postfix SMTP notifications, and present live telemetry in OpenSearch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70595"/>
            <a:ext cx="5324475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680120"/>
            <a:ext cx="49625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565945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175545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94670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413795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System Architecture &amp;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537370"/>
            <a:ext cx="5153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Wazuh Manager: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Hosted on Ubuntu 24.04 Server, parsing telemetry, applying rule engine logic, and triggering responses.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46970"/>
            <a:ext cx="51530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Monitored Endpoint: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Kali Linux workstation executing the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mac_monitor.py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daemon alongside Wazuh Agent 4.14.7.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66095"/>
            <a:ext cx="515302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Log Collector: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Monitors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/var/ossec/logs/mac_monitor.log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and transmits events through encrypted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85220"/>
            <a:ext cx="51530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OpenSearch Dashboard: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Provides centralized data indexing, forensic search, and timeline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3747045"/>
            <a:ext cx="11029950" cy="38100"/>
          </a:xfrm>
          <a:prstGeom prst="rect">
            <a:avLst/>
          </a:prstGeom>
          <a:solidFill>
            <a:srgbClr val="56B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1025" y="4032795"/>
            <a:ext cx="2536775" cy="1217116"/>
          </a:xfrm>
          <a:prstGeom prst="roundRect">
            <a:avLst>
              <a:gd name="adj" fmla="val 7825"/>
            </a:avLst>
          </a:prstGeom>
          <a:solidFill>
            <a:srgbClr val="111B30"/>
          </a:solidFill>
          <a:ln w="9525">
            <a:solidFill>
              <a:srgbClr val="14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12033" y="2282279"/>
            <a:ext cx="2536775" cy="1217116"/>
          </a:xfrm>
          <a:prstGeom prst="roundRect">
            <a:avLst>
              <a:gd name="adj" fmla="val 7825"/>
            </a:avLst>
          </a:prstGeom>
          <a:solidFill>
            <a:srgbClr val="111B30"/>
          </a:solidFill>
          <a:ln w="9525">
            <a:solidFill>
              <a:srgbClr val="14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3042" y="4032795"/>
            <a:ext cx="2536775" cy="1217116"/>
          </a:xfrm>
          <a:prstGeom prst="roundRect">
            <a:avLst>
              <a:gd name="adj" fmla="val 7825"/>
            </a:avLst>
          </a:prstGeom>
          <a:solidFill>
            <a:srgbClr val="111B30"/>
          </a:solidFill>
          <a:ln w="9525">
            <a:solidFill>
              <a:srgbClr val="14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74050" y="2282279"/>
            <a:ext cx="2536775" cy="1217116"/>
          </a:xfrm>
          <a:prstGeom prst="roundRect">
            <a:avLst>
              <a:gd name="adj" fmla="val 7825"/>
            </a:avLst>
          </a:prstGeom>
          <a:solidFill>
            <a:srgbClr val="111B30"/>
          </a:solidFill>
          <a:ln w="9525">
            <a:solidFill>
              <a:srgbClr val="14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End-to-End Detection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183" y="4213770"/>
            <a:ext cx="285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1. NIC Polling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46" y="4509045"/>
            <a:ext cx="2718531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Python script polls network interfaces and detects MAC address modifications.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3192" y="2463254"/>
            <a:ext cx="285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2. JSON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1155" y="2758529"/>
            <a:ext cx="2718531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Wazuh Agent reads forensic JSON entries from the designated log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4200" y="4213770"/>
            <a:ext cx="285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3. Rule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2164" y="4509045"/>
            <a:ext cx="2718531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Manager executes Rule ID 100510 (Severity 10) and maps MITRE ATT&amp;CK.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209" y="2463254"/>
            <a:ext cx="285445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BDF8"/>
                </a:solidFill>
                <a:latin typeface="Space Grotesk"/>
              </a:rPr>
              <a:t>4. Active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172" y="2758529"/>
            <a:ext cx="2718531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Automated script executes containment and dispatches SMTP alerts.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06460" y="362322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37469" y="362322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8478" y="362322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99486" y="362322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025" y="2685008"/>
            <a:ext cx="4411860" cy="2162175"/>
          </a:xfrm>
          <a:prstGeom prst="roundRect">
            <a:avLst>
              <a:gd name="adj" fmla="val 7048"/>
            </a:avLst>
          </a:prstGeom>
          <a:solidFill>
            <a:srgbClr val="101A2E"/>
          </a:solidFill>
          <a:ln w="9525">
            <a:solidFill>
              <a:srgbClr val="163D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Validation &amp; Attack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573" y="3075533"/>
            <a:ext cx="5014763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4ADE80"/>
                </a:solidFill>
                <a:latin typeface="Space Grotesk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573" y="4218533"/>
            <a:ext cx="50147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Detection &amp; Alert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9135" y="2875805"/>
            <a:ext cx="6722864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Space Grotesk"/>
              </a:rPr>
              <a:t>Empirical Validation with Macchanger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9135" y="3352055"/>
            <a:ext cx="6237089" cy="527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During live testing on Kali Linux, hardware MAC randomization and spoofing scenarios were simulated using 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macchanger -r eth0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9135" y="3879502"/>
            <a:ext cx="6237089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The system successfully recognized every address state transition, populated the Wazuh manager log pipe within 1.2 seconds, and prevented alert suppression through robust JSON schema indexing.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550" y="2792164"/>
            <a:ext cx="19742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4755" y="2792164"/>
            <a:ext cx="32149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79740" y="2792164"/>
            <a:ext cx="58217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0550" y="3277939"/>
            <a:ext cx="19742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4755" y="3277939"/>
            <a:ext cx="32149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79740" y="3277939"/>
            <a:ext cx="58217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550" y="3763714"/>
            <a:ext cx="19742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4755" y="3763714"/>
            <a:ext cx="32149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740" y="3763714"/>
            <a:ext cx="58217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0550" y="4249489"/>
            <a:ext cx="19742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4755" y="4249489"/>
            <a:ext cx="32149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79740" y="4249489"/>
            <a:ext cx="58217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4735264"/>
            <a:ext cx="197420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4755" y="4735264"/>
            <a:ext cx="32149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79740" y="4735264"/>
            <a:ext cx="582170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55255" y="2937420"/>
            <a:ext cx="1434703" cy="219075"/>
          </a:xfrm>
          <a:prstGeom prst="roundRect">
            <a:avLst>
              <a:gd name="adj" fmla="val 17391"/>
            </a:avLst>
          </a:prstGeom>
          <a:solidFill>
            <a:srgbClr val="15324B"/>
          </a:solidFill>
          <a:ln w="9525">
            <a:solidFill>
              <a:srgbClr val="1B4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55255" y="3423195"/>
            <a:ext cx="1434703" cy="219075"/>
          </a:xfrm>
          <a:prstGeom prst="roundRect">
            <a:avLst>
              <a:gd name="adj" fmla="val 17391"/>
            </a:avLst>
          </a:prstGeom>
          <a:solidFill>
            <a:srgbClr val="15324B"/>
          </a:solidFill>
          <a:ln w="9525">
            <a:solidFill>
              <a:srgbClr val="1B4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55255" y="3908970"/>
            <a:ext cx="1880592" cy="219075"/>
          </a:xfrm>
          <a:prstGeom prst="roundRect">
            <a:avLst>
              <a:gd name="adj" fmla="val 17391"/>
            </a:avLst>
          </a:prstGeom>
          <a:solidFill>
            <a:srgbClr val="15324B"/>
          </a:solidFill>
          <a:ln w="9525">
            <a:solidFill>
              <a:srgbClr val="1B4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55255" y="4394745"/>
            <a:ext cx="394394" cy="219075"/>
          </a:xfrm>
          <a:prstGeom prst="roundRect">
            <a:avLst>
              <a:gd name="adj" fmla="val 17391"/>
            </a:avLst>
          </a:prstGeom>
          <a:solidFill>
            <a:srgbClr val="15324B"/>
          </a:solidFill>
          <a:ln w="9525">
            <a:solidFill>
              <a:srgbClr val="1B4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55255" y="4880520"/>
            <a:ext cx="245864" cy="219075"/>
          </a:xfrm>
          <a:prstGeom prst="roundRect">
            <a:avLst>
              <a:gd name="adj" fmla="val 17391"/>
            </a:avLst>
          </a:prstGeom>
          <a:solidFill>
            <a:srgbClr val="15324B"/>
          </a:solidFill>
          <a:ln w="9525">
            <a:solidFill>
              <a:srgbClr val="1B4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1025" y="2301626"/>
            <a:ext cx="11029950" cy="2928937"/>
          </a:xfrm>
          <a:prstGeom prst="roundRect">
            <a:avLst>
              <a:gd name="adj" fmla="val 0"/>
            </a:avLst>
          </a:prstGeom>
          <a:solidFill>
            <a:srgbClr val="0F19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81025" y="2301626"/>
          <a:ext cx="11010899" cy="2928937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74205"/>
                <a:gridCol w="3214985"/>
                <a:gridCol w="5821709"/>
              </a:tblGrid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Space Grotesk"/>
                        </a:rPr>
                        <a:t>Field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Space Grotesk"/>
                        </a:rPr>
                        <a:t>Sample Extracted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D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8FAFC"/>
                          </a:solidFill>
                          <a:latin typeface="Space Grotesk"/>
                        </a:rPr>
                        <a:t>SOC Security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D44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permanent_mac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Ground-truth hardware burned-in address verification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new_mac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Active spoofed MAC address identification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vendor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OUI vendor lookup to pinpoint device discrepancy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randomized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Identifies pseudo-randomized evasion tools like macchanger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</a:tr>
              <a:tr h="48815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change_count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Frequency tracking for rapid hopping and MITM assaults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92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Forensic Telemetry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1455" y="2965995"/>
            <a:ext cx="164097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monospace"/>
              </a:rPr>
              <a:t>08:00:27:8a:35:d2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1455" y="3451770"/>
            <a:ext cx="164097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monospace"/>
              </a:rPr>
              <a:t>7e:b6:9f:15:d1:74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1455" y="3937545"/>
            <a:ext cx="219834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monospace"/>
              </a:rPr>
              <a:t>CADMUS COMPUTER 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1455" y="4423320"/>
            <a:ext cx="52774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monospace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1455" y="4909095"/>
            <a:ext cx="37921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monospace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60115"/>
            <a:ext cx="11029950" cy="5212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Incident Response Time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187" y="4680495"/>
            <a:ext cx="107156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1" u="none">
                <a:solidFill>
                  <a:srgbClr val="94A3B8"/>
                </a:solidFill>
                <a:latin typeface="Plus Jakarta Sans"/>
              </a:rPr>
              <a:t>The proposed automated Wazuh pipeline slashes incident turnaround time from hours down to sub-second execution, neutralizing impersonation windows before threat actors pivot.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58102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425" y="581025"/>
            <a:ext cx="676584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Automated Incident Alerting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533650"/>
            <a:ext cx="692586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38BDF8"/>
                </a:solidFill>
                <a:latin typeface="Space Grotesk"/>
              </a:rPr>
              <a:t>Multi-Channel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048000"/>
            <a:ext cx="5372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When unauthorized MAC modifications trigger Rule ID 100510, Wazuh dispatches instant High-Severity (Level 10) alerts via Postfix SMTP and Slack webhooks.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023270"/>
            <a:ext cx="53721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Security administrators immediately receive rich forensic summaries detailing hostname, IP, old MAC, new MAC, and vendor telemetry for rapid triage.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28750" y="1899195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0F192C"/>
          </a:solidFill>
          <a:ln w="9525">
            <a:solidFill>
              <a:srgbClr val="102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28750" y="2832645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0F192C"/>
          </a:solidFill>
          <a:ln w="9525">
            <a:solidFill>
              <a:srgbClr val="102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28750" y="3766095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0F192C"/>
          </a:solidFill>
          <a:ln w="9525">
            <a:solidFill>
              <a:srgbClr val="102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8750" y="4699545"/>
            <a:ext cx="9334500" cy="781050"/>
          </a:xfrm>
          <a:prstGeom prst="roundRect">
            <a:avLst>
              <a:gd name="adj" fmla="val 12195"/>
            </a:avLst>
          </a:prstGeom>
          <a:solidFill>
            <a:srgbClr val="0F192C"/>
          </a:solidFill>
          <a:ln w="9525">
            <a:solidFill>
              <a:srgbClr val="102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8750" y="2670720"/>
            <a:ext cx="93345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8750" y="3604170"/>
            <a:ext cx="93345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28750" y="4537620"/>
            <a:ext cx="93345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28750" y="5471070"/>
            <a:ext cx="9334500" cy="95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075408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3008858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775" y="3942308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8775" y="4875758"/>
            <a:ext cx="1905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Future Strategic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2150" y="2051595"/>
            <a:ext cx="87058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Multi-Interface Enterprise Support: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Expand monitoring coverage across virtual bridges, Docker/Kubernetes interfaces, and wireless adapters.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2150" y="2985045"/>
            <a:ext cx="87058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Machine Learning Behavioral Anomaly Scoring: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Implement baseline analysis to distinguish legitimate admin maintenance from malicious address cycling.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2150" y="3918495"/>
            <a:ext cx="87058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Historical Forensic Telemetry Vault: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Long-term database retention for Layer 2 telemetry to support deep post-incident compliance audits.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2150" y="4851945"/>
            <a:ext cx="87058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8FAFC"/>
                </a:solidFill>
                <a:latin typeface="Plus Jakarta Sans"/>
              </a:rPr>
              <a:t>Autonomous Remediation: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Automate immediate network quarantine via 802.1X port isolation or managed switch ACL reconfigurations.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247900" y="2200275"/>
            <a:ext cx="7696200" cy="542925"/>
          </a:xfrm>
          <a:prstGeom prst="roundRect">
            <a:avLst>
              <a:gd name="adj" fmla="val 21052"/>
            </a:avLst>
          </a:prstGeom>
          <a:solidFill>
            <a:srgbClr val="101A2E"/>
          </a:solidFill>
          <a:ln w="9525">
            <a:solidFill>
              <a:srgbClr val="14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325" y="2400300"/>
            <a:ext cx="1428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2400300"/>
            <a:ext cx="1619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950" y="2400300"/>
            <a:ext cx="1428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98859" y="485775"/>
            <a:ext cx="12989718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Space Grotesk"/>
              </a:rPr>
              <a:t>Questions &amp; </a:t>
            </a:r>
            <a:r>
              <a:rPr b="1" sz="5400" i="0" u="none">
                <a:solidFill>
                  <a:srgbClr val="38BDF8"/>
                </a:solidFill>
                <a:latin typeface="Space Grotesk"/>
              </a:rPr>
              <a:t>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98859" y="1552575"/>
            <a:ext cx="12989718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Real-Time MAC Address Spoofing Detection using Wazuh SIEM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7462" y="2381250"/>
            <a:ext cx="274320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Wazuh SIEM &amp; Active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8996" y="2381250"/>
            <a:ext cx="2259806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Kali Linux &amp; Ubuntu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284" y="2381250"/>
            <a:ext cx="2231231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SOC Security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485775"/>
            <a:ext cx="38100" cy="38859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687" y="2613570"/>
            <a:ext cx="10334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687" y="3385095"/>
            <a:ext cx="103346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687" y="3375570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687" y="3375570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8687" y="4147095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8687" y="4147095"/>
            <a:ext cx="10334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2756445"/>
            <a:ext cx="857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" y="3527970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" y="429949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3425" y="485775"/>
            <a:ext cx="11458575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4062" y="2763589"/>
            <a:ext cx="1016793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https://www.splunk.com/en_us/blog/learn/media_1ad0e73fe5a9597fd5a517b6e3c8d9ba5efa2b654.webp?width=1200&amp;format=pjpg&amp;optimize=medium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4062" y="2996951"/>
            <a:ext cx="10167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www.splunk.com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4062" y="3535114"/>
            <a:ext cx="1016793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https://pikwizard.com/pw/small/b08cb7026350a30db29c7c184eb9c756.jpg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4062" y="3768476"/>
            <a:ext cx="10167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pikwizard.com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4062" y="4306639"/>
            <a:ext cx="10167937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https://d2nzy1qhita6w.cloudfront.net/media/magefan_blog/Blog_14_-_Jun_-_feat_image.webp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4062" y="4540001"/>
            <a:ext cx="10167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www.quickstart.com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